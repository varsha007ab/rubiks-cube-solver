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4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914400"/>
            <a:ext cx="594360" cy="594360"/>
          </a:xfrm>
          <a:prstGeom prst="rect">
            <a:avLst/>
          </a:prstGeom>
          <a:solidFill>
            <a:srgbClr val="F47C26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16368" y="914400"/>
            <a:ext cx="594360" cy="594360"/>
          </a:xfrm>
          <a:prstGeom prst="rect">
            <a:avLst/>
          </a:prstGeom>
          <a:solidFill>
            <a:srgbClr val="2E74B5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74736" y="914400"/>
            <a:ext cx="594360" cy="594360"/>
          </a:xfrm>
          <a:prstGeom prst="rect">
            <a:avLst/>
          </a:prstGeom>
          <a:solidFill>
            <a:srgbClr val="27AE60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0" y="1572768"/>
            <a:ext cx="594360" cy="594360"/>
          </a:xfrm>
          <a:prstGeom prst="rect">
            <a:avLst/>
          </a:prstGeom>
          <a:solidFill>
            <a:srgbClr val="C0392B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16368" y="1572768"/>
            <a:ext cx="594360" cy="594360"/>
          </a:xfrm>
          <a:prstGeom prst="rect">
            <a:avLst/>
          </a:prstGeom>
          <a:solidFill>
            <a:srgbClr val="FCA551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74736" y="1572768"/>
            <a:ext cx="594360" cy="594360"/>
          </a:xfrm>
          <a:prstGeom prst="rect">
            <a:avLst/>
          </a:prstGeom>
          <a:solidFill>
            <a:srgbClr val="1A4F8A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0" y="2231136"/>
            <a:ext cx="594360" cy="594360"/>
          </a:xfrm>
          <a:prstGeom prst="rect">
            <a:avLst/>
          </a:prstGeom>
          <a:solidFill>
            <a:srgbClr val="F47C26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16368" y="2231136"/>
            <a:ext cx="594360" cy="594360"/>
          </a:xfrm>
          <a:prstGeom prst="rect">
            <a:avLst/>
          </a:prstGeom>
          <a:solidFill>
            <a:srgbClr val="2E74B5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174736" y="2231136"/>
            <a:ext cx="594360" cy="594360"/>
          </a:xfrm>
          <a:prstGeom prst="rect">
            <a:avLst/>
          </a:prstGeom>
          <a:solidFill>
            <a:srgbClr val="27AE60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0972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RUBIK'S CUBE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300" dirty="0">
                <a:solidFill>
                  <a:srgbClr val="F47C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SOLVER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Mini Project  |  Team 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5943600" cy="1325880"/>
          </a:xfrm>
          <a:prstGeom prst="rect">
            <a:avLst/>
          </a:prstGeom>
          <a:solidFill>
            <a:srgbClr val="0F2336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7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Manasvi  ·  Pragya  ·  Varsha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— Team 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Definition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47C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6032" cy="256032"/>
          </a:xfrm>
          <a:prstGeom prst="ellipse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6642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3×3×3 Rubik's Cube has 43 QUINTILLION possible states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256032" cy="256032"/>
          </a:xfrm>
          <a:prstGeom prst="ellipse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3500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solving requires complex memorization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256032" cy="256032"/>
          </a:xfrm>
          <a:prstGeom prst="ellipse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044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035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an algorithm to find solution moves automatically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256032" cy="256032"/>
          </a:xfrm>
          <a:prstGeom prst="ellipse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730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7216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return ANY scrambled cube to solved state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80560" y="1097280"/>
            <a:ext cx="4389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0" y="1097280"/>
            <a:ext cx="73152" cy="1463040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1188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4.3 × 10¹⁹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66344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cube configurations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80560" y="2743200"/>
            <a:ext cx="4389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0" y="2743200"/>
            <a:ext cx="73152" cy="1463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2834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≤ 20 Moves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663440" y="3337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God's Number — any cube solved optimally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80560" y="4389120"/>
            <a:ext cx="438912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17720" y="4453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Scrambled cube state (54 tiles)   →   Output: Sequence of moves to solve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Structures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17957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54-Element Array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16184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Representation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" y="1947672"/>
            <a:ext cx="54864" cy="128016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3504" y="19110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list of 54 color values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203704"/>
            <a:ext cx="54864" cy="128016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" y="216712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faces × 9 tiles each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459736"/>
            <a:ext cx="54864" cy="128016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" y="242316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move application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143000"/>
            <a:ext cx="4023360" cy="4572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64608" y="117957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Dictionary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64608" y="16184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64608" y="1947672"/>
            <a:ext cx="54864" cy="128016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92624" y="19110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moves → index permutations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64608" y="2203704"/>
            <a:ext cx="54864" cy="128016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92624" y="216712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U, D, L, R, F, B + inverses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64608" y="2459736"/>
            <a:ext cx="54864" cy="128016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92624" y="242316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move lookup O(1)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2971800"/>
            <a:ext cx="402336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300837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Recursion Stack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5488" y="34472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" y="3776472"/>
            <a:ext cx="54864" cy="128016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3504" y="3739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IDA* uses call stack as path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" y="4032504"/>
            <a:ext cx="54864" cy="128016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3504" y="399592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O(d) space only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" y="4288536"/>
            <a:ext cx="54864" cy="128016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3504" y="425196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stack needed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9718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2971800"/>
            <a:ext cx="4023360" cy="4572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64608" y="300837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 Value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864608" y="34472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Cutoff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64608" y="3776472"/>
            <a:ext cx="54864" cy="128016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92624" y="3739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priority queue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64608" y="4032504"/>
            <a:ext cx="54864" cy="128016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92624" y="399592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DFS depth limit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64608" y="4288536"/>
            <a:ext cx="54864" cy="128016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92624" y="425196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each iteration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Algorithm: Iterative Deepening A* (IDA*)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566160"/>
          </a:xfrm>
          <a:prstGeom prst="rect">
            <a:avLst/>
          </a:prstGeom>
          <a:solidFill>
            <a:srgbClr val="0F2336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7C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IDA* Works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47472" cy="347472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1572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threshold = h(start)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17647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value of start state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39696"/>
            <a:ext cx="347472" cy="347472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1832" y="21396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depth-first 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" y="23317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if f(n) = g(n)+h(n) &gt; threshold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706624"/>
            <a:ext cx="347472" cy="347472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1832" y="27066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found?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1832" y="28986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solution path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73552"/>
            <a:ext cx="347472" cy="347472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" y="32735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Else: raise threshold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1832" y="34655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min f-value that was pruned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840480"/>
            <a:ext cx="347472" cy="347472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1832" y="38404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solved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1832" y="40325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optimal solution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051560"/>
            <a:ext cx="4114800" cy="1463040"/>
          </a:xfrm>
          <a:prstGeom prst="rect">
            <a:avLst/>
          </a:prstGeom>
          <a:solidFill>
            <a:srgbClr val="0F2336"/>
          </a:solidFill>
          <a:ln w="12700">
            <a:solidFill>
              <a:srgbClr val="F47C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11704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7C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f(n) = g(n) + h(n)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754880" y="1664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g(n) = moves so far  |  h(n) = estimated moves to goal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651760"/>
            <a:ext cx="1371600" cy="393192"/>
          </a:xfrm>
          <a:prstGeom prst="rect">
            <a:avLst/>
          </a:prstGeom>
          <a:solidFill>
            <a:srgbClr val="2E74B5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2651760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2651760"/>
            <a:ext cx="1371600" cy="393192"/>
          </a:xfrm>
          <a:prstGeom prst="rect">
            <a:avLst/>
          </a:prstGeom>
          <a:solidFill>
            <a:srgbClr val="2E74B5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80760" y="2651760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06640" y="2651760"/>
            <a:ext cx="777240" cy="393192"/>
          </a:xfrm>
          <a:prstGeom prst="rect">
            <a:avLst/>
          </a:prstGeom>
          <a:solidFill>
            <a:srgbClr val="2E74B5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52360" y="2651760"/>
            <a:ext cx="685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063240"/>
            <a:ext cx="1371600" cy="393192"/>
          </a:xfrm>
          <a:prstGeom prst="rect">
            <a:avLst/>
          </a:prstGeom>
          <a:solidFill>
            <a:srgbClr val="132738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3063240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35040" y="3063240"/>
            <a:ext cx="1371600" cy="393192"/>
          </a:xfrm>
          <a:prstGeom prst="rect">
            <a:avLst/>
          </a:prstGeom>
          <a:solidFill>
            <a:srgbClr val="132738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80760" y="3063240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O(b^d)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06640" y="3063240"/>
            <a:ext cx="777240" cy="393192"/>
          </a:xfrm>
          <a:prstGeom prst="rect">
            <a:avLst/>
          </a:prstGeom>
          <a:solidFill>
            <a:srgbClr val="132738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452360" y="3063240"/>
            <a:ext cx="685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474720"/>
            <a:ext cx="1371600" cy="393192"/>
          </a:xfrm>
          <a:prstGeom prst="rect">
            <a:avLst/>
          </a:prstGeom>
          <a:solidFill>
            <a:srgbClr val="132738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09160" y="3474720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3474720"/>
            <a:ext cx="1371600" cy="393192"/>
          </a:xfrm>
          <a:prstGeom prst="rect">
            <a:avLst/>
          </a:prstGeom>
          <a:solidFill>
            <a:srgbClr val="132738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80760" y="3474720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O(b^d)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06640" y="3474720"/>
            <a:ext cx="777240" cy="393192"/>
          </a:xfrm>
          <a:prstGeom prst="rect">
            <a:avLst/>
          </a:prstGeom>
          <a:solidFill>
            <a:srgbClr val="132738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452360" y="3474720"/>
            <a:ext cx="685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63440" y="3886200"/>
            <a:ext cx="1371600" cy="393192"/>
          </a:xfrm>
          <a:prstGeom prst="rect">
            <a:avLst/>
          </a:prstGeom>
          <a:solidFill>
            <a:srgbClr val="1A6B3A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09160" y="3886200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IDA*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35040" y="3886200"/>
            <a:ext cx="1371600" cy="393192"/>
          </a:xfrm>
          <a:prstGeom prst="rect">
            <a:avLst/>
          </a:prstGeom>
          <a:solidFill>
            <a:srgbClr val="1A6B3A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080760" y="3886200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O(d)  ✓✓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06640" y="3886200"/>
            <a:ext cx="777240" cy="393192"/>
          </a:xfrm>
          <a:prstGeom prst="rect">
            <a:avLst/>
          </a:prstGeom>
          <a:solidFill>
            <a:srgbClr val="1A6B3A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452360" y="3886200"/>
            <a:ext cx="685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63440" y="4389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CA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IDA* wins on memory — critical for 43 quintillion states!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Walkthrough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645920"/>
          </a:xfrm>
          <a:prstGeom prst="rect">
            <a:avLst/>
          </a:prstGeom>
          <a:solidFill>
            <a:srgbClr val="1E2A35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7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Representation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54-element list (6 faces × 9 tiles)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['W']*9 + ['Y']*9 +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['G']*9 + ['B']*9 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['O']*9 + ['R']*9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1645920"/>
          </a:xfrm>
          <a:prstGeom prst="rect">
            <a:avLst/>
          </a:prstGeom>
          <a:solidFill>
            <a:srgbClr val="1E2A35"/>
          </a:solidFill>
          <a:ln w="12700">
            <a:solidFill>
              <a:srgbClr val="F47C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7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IDA* Core Loop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= heuristic(start)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938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search(path, 0, threshold)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185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result == 'FOUND': return path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241085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threshold = result  # raise cutoff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114800" cy="1463040"/>
          </a:xfrm>
          <a:prstGeom prst="rect">
            <a:avLst/>
          </a:prstGeom>
          <a:solidFill>
            <a:srgbClr val="1E2A35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7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Function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2461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heuristic(state):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5021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= sum(1 for f in range(6)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75818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 in range(9)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1421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state[f*9+t] != state[f*9+4])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27024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count // 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880360"/>
            <a:ext cx="4114800" cy="146304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2880360"/>
            <a:ext cx="73152" cy="1463040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9443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310128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18 moves: 6 faces × 3 variants (90°, -90°, 180°)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557016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Pruning: skip redundant inverse moves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803904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Effective branching factor reduced: 18 → ~13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050792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Admissible heuristic guarantees optimal path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 Analysis &amp; Sample I/O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260604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O(b^d)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75488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≈ 13 (pruned), d ≤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78992"/>
            <a:ext cx="2606040" cy="128016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10128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10128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O(d)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10128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current path stored!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78992"/>
            <a:ext cx="2606040" cy="128016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44768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Moves/State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44768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44768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faces × 3 variants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023360" cy="1783080"/>
          </a:xfrm>
          <a:prstGeom prst="rect">
            <a:avLst/>
          </a:prstGeom>
          <a:solidFill>
            <a:srgbClr val="1E2A3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9077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scramble_moves = [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16382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'U', 'R', "F'", 'B2',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41985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'L', "U'", 'D2'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6758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93192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solver.apply_scramble(scramble_moves)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1879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= ida_star(solver)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514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834640"/>
            <a:ext cx="4114800" cy="1783080"/>
          </a:xfrm>
          <a:prstGeom prst="rect">
            <a:avLst/>
          </a:prstGeom>
          <a:solidFill>
            <a:srgbClr val="1E2A3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290779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Solving cube...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16382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A5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Solution found in 7 moves: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41985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D2  U  L'  B2  F  R'  U'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67588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39319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Verification: Applied solution...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4187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Cube is SOLVED! All faces uniform.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1691640"/>
          </a:xfrm>
          <a:prstGeom prst="rect">
            <a:avLst/>
          </a:prstGeom>
          <a:solidFill>
            <a:srgbClr val="0F2336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73152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225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Robotics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Physical cube-solving robots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94767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MIT's robot: solved in 0.38s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26771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Robotic arm path planning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97480" cy="1691640"/>
          </a:xfrm>
          <a:prstGeom prst="rect">
            <a:avLst/>
          </a:prstGeom>
          <a:solidFill>
            <a:srgbClr val="0F2336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97480" cy="73152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55848" y="1225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AI &amp; Game Playing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5848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Chess / Go search engines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194767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planning &amp; scheduling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226771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Puzzle benchmark in research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097280"/>
            <a:ext cx="2697480" cy="1691640"/>
          </a:xfrm>
          <a:prstGeom prst="rect">
            <a:avLst/>
          </a:prstGeom>
          <a:solidFill>
            <a:srgbClr val="0F2336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1097280"/>
            <a:ext cx="2697480" cy="73152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81928" y="1225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Cryptography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81928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Group theory permutations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81928" y="194767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Error-correcting codes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81928" y="226771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Permutation-based encryption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971800"/>
            <a:ext cx="2697480" cy="1691640"/>
          </a:xfrm>
          <a:prstGeom prst="rect">
            <a:avLst/>
          </a:prstGeom>
          <a:solidFill>
            <a:srgbClr val="0F2336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971800"/>
            <a:ext cx="2697480" cy="73152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9768" y="30998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🚚  Operations Research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9768" y="350215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Vehicle routing problems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" y="382219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Job-shop scheduling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41422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Supply chain optimization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2971800"/>
            <a:ext cx="2697480" cy="1691640"/>
          </a:xfrm>
          <a:prstGeom prst="rect">
            <a:avLst/>
          </a:prstGeom>
          <a:solidFill>
            <a:srgbClr val="0F2336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46120" y="2971800"/>
            <a:ext cx="2697480" cy="73152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55848" y="30998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 Education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55848" y="350215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Teaching graph search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55848" y="382219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Heuristics &amp; recursion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55848" y="41422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CS curriculum worldwide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2971800"/>
            <a:ext cx="2697480" cy="1691640"/>
          </a:xfrm>
          <a:prstGeom prst="rect">
            <a:avLst/>
          </a:prstGeom>
          <a:solidFill>
            <a:srgbClr val="0F2336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72200" y="2971800"/>
            <a:ext cx="2697480" cy="73152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81928" y="30998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Optimization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81928" y="350215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Configuration search spaces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81928" y="382219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Parameter tuning in ML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81928" y="41422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State-space exploration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47C26"/>
          </a:solidFill>
          <a:ln w="12700">
            <a:solidFill>
              <a:srgbClr val="F47C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kern="0" spc="2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749808"/>
          </a:xfrm>
          <a:prstGeom prst="rect">
            <a:avLst/>
          </a:prstGeom>
          <a:solidFill>
            <a:srgbClr val="0F2336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93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7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State Representation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81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54-element array enables O(1) move application and fast heuristic computation.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8412480" cy="749808"/>
          </a:xfrm>
          <a:prstGeom prst="rect">
            <a:avLst/>
          </a:prstGeom>
          <a:solidFill>
            <a:srgbClr val="0F2336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579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7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Algorithm Choice is Critical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50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IDA* gives optimal solutions with O(d) memory — far superior to BFS/A* for this scale.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749808"/>
          </a:xfrm>
          <a:prstGeom prst="rect">
            <a:avLst/>
          </a:prstGeom>
          <a:solidFill>
            <a:srgbClr val="0F2336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026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7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Heuristics Drive Performance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192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Admissible heuristic (misplaced tiles ÷ 8) dramatically reduces the search space explored.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8412480" cy="749808"/>
          </a:xfrm>
          <a:prstGeom prst="rect">
            <a:avLst/>
          </a:prstGeom>
          <a:solidFill>
            <a:srgbClr val="0F2336"/>
          </a:solidFill>
          <a:ln w="12700">
            <a:solidFill>
              <a:srgbClr val="1A3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8953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7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DSA Concepts Are Interconnected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187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unifies graph search, recursion, state modeling, and algorithm design.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7"/>
          </a:solidFill>
          <a:ln w="12700">
            <a:solidFill>
              <a:srgbClr val="070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  ·  Manasvi  ·  Pragya  ·  Varsha  ·  DSA Mini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D0E0D324DCB645B172BB6D0BD06EA6" ma:contentTypeVersion="11" ma:contentTypeDescription="Create a new document." ma:contentTypeScope="" ma:versionID="a230086fd40c738a55345e1d0fe0ec13">
  <xsd:schema xmlns:xsd="http://www.w3.org/2001/XMLSchema" xmlns:xs="http://www.w3.org/2001/XMLSchema" xmlns:p="http://schemas.microsoft.com/office/2006/metadata/properties" xmlns:ns2="ce88c279-ea88-4ecc-9564-e6ef5cc51e47" xmlns:ns3="cf57f920-f363-41f8-bab8-eecb2335f2c8" targetNamespace="http://schemas.microsoft.com/office/2006/metadata/properties" ma:root="true" ma:fieldsID="43ed9b7a8e51dabd2aa51197b7a47c1c" ns2:_="" ns3:_="">
    <xsd:import namespace="ce88c279-ea88-4ecc-9564-e6ef5cc51e47"/>
    <xsd:import namespace="cf57f920-f363-41f8-bab8-eecb2335f2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8c279-ea88-4ecc-9564-e6ef5cc51e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ca7166d-de03-4c3e-865e-07adad3d8b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57f920-f363-41f8-bab8-eecb2335f2c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fc235a2-ff80-4ce6-a106-0be9f9e7c0b9}" ma:internalName="TaxCatchAll" ma:showField="CatchAllData" ma:web="cf57f920-f363-41f8-bab8-eecb2335f2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e88c279-ea88-4ecc-9564-e6ef5cc51e47">
      <Terms xmlns="http://schemas.microsoft.com/office/infopath/2007/PartnerControls"/>
    </lcf76f155ced4ddcb4097134ff3c332f>
    <TaxCatchAll xmlns="cf57f920-f363-41f8-bab8-eecb2335f2c8" xsi:nil="true"/>
  </documentManagement>
</p:properties>
</file>

<file path=customXml/itemProps1.xml><?xml version="1.0" encoding="utf-8"?>
<ds:datastoreItem xmlns:ds="http://schemas.openxmlformats.org/officeDocument/2006/customXml" ds:itemID="{D61E328D-68BD-425B-ADED-1C823807203F}"/>
</file>

<file path=customXml/itemProps2.xml><?xml version="1.0" encoding="utf-8"?>
<ds:datastoreItem xmlns:ds="http://schemas.openxmlformats.org/officeDocument/2006/customXml" ds:itemID="{8FE51ED5-A8D8-43CD-BF5D-903F69E9C11E}"/>
</file>

<file path=customXml/itemProps3.xml><?xml version="1.0" encoding="utf-8"?>
<ds:datastoreItem xmlns:ds="http://schemas.openxmlformats.org/officeDocument/2006/customXml" ds:itemID="{2A9547D5-5E46-49AF-BA75-43AF04AE48B7}"/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830</Words>
  <Application>Microsoft Office PowerPoint</Application>
  <PresentationFormat>On-screen Show (16:9)</PresentationFormat>
  <Paragraphs>163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Rubik's Cube Solver - DSA Mini Project</dc:title>
  <dc:subject>PptxGenJS Presentation</dc:subject>
  <dc:creator>Team 5 - Manasvi, Pragya, Varsha</dc:creator>
  <cp:lastModifiedBy>MANASVI SANJAY - 245819024 - MITBLR</cp:lastModifiedBy>
  <cp:revision>2</cp:revision>
  <dcterms:created xsi:type="dcterms:W3CDTF">2026-04-14T14:20:39Z</dcterms:created>
  <dcterms:modified xsi:type="dcterms:W3CDTF">2026-04-14T15:38:01Z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0x01010059D0E0D324DCB645B172BB6D0BD06EA6</vt:lpwstr>
  </property>
</Properties>
</file>